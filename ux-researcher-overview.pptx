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56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8E4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UX Researcher Skill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CC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and how it fits into our workflow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200400"/>
            <a:ext cx="1828800" cy="36576"/>
          </a:xfrm>
          <a:prstGeom prst="rect">
            <a:avLst/>
          </a:prstGeom>
          <a:solidFill>
            <a:srgbClr val="C8956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474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App Team — April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56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4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we're solving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128016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32588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C895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pPr indent="0" marL="0">
              <a:buNone/>
            </a:pPr>
            <a:r>
              <a:rPr lang="en-US" sz="1800" i="1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feel like this app is for people who already know about coffee.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97280" y="20116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Sarah K., usability session participant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834640"/>
            <a:ext cx="2377440" cy="16459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3017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64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914400" y="3657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SUS score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C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(below industry avg of 68)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20440" y="2834640"/>
            <a:ext cx="2377440" cy="16459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20440" y="3017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64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703320" y="3657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C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bean comparison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2834640"/>
            <a:ext cx="2377440" cy="164592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3017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895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5/5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492240" y="3657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confused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C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cupping scores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56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4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the UX researcher skill?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Claude skill that evaluates our app from the user's perspective — automatically, as part of our development workflow.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7680960" cy="10058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9202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7830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building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37360" y="21488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proposed user flows for friction, dead ends, and confusion before any code is written.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1520" y="2834640"/>
            <a:ext cx="7680960" cy="10058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10896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37360" y="29718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building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737360" y="333756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Walks the feature as a user would, using 10 adapted Nielsen heuristics. Tags every finding to the right skill for fixes.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31520" y="3977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C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through 3 user personas: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31520" y="4297680"/>
            <a:ext cx="2468880" cy="457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Text 11"/>
          <p:cNvSpPr/>
          <p:nvPr/>
        </p:nvSpPr>
        <p:spPr>
          <a:xfrm>
            <a:off x="868680" y="4297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956C"/>
                </a:solidFill>
              </a:rPr>
              <a:t>Curious Newcomer</a:t>
            </a:r>
            <a:pPr indent="0" marL="0">
              <a:buNone/>
            </a:pPr>
            <a:r>
              <a:rPr lang="en-US" sz="1000" dirty="0">
                <a:solidFill>
                  <a:srgbClr val="CCC5BD"/>
                </a:solidFill>
              </a:rPr>
              <a:t> — New to coffee, needs hand-holding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474720" y="4297680"/>
            <a:ext cx="2468880" cy="457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Text 13"/>
          <p:cNvSpPr/>
          <p:nvPr/>
        </p:nvSpPr>
        <p:spPr>
          <a:xfrm>
            <a:off x="3611880" y="4297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956C"/>
                </a:solidFill>
              </a:rPr>
              <a:t>Home Barista</a:t>
            </a:r>
            <a:pPr indent="0" marL="0">
              <a:buNone/>
            </a:pPr>
            <a:r>
              <a:rPr lang="en-US" sz="1000" dirty="0">
                <a:solidFill>
                  <a:srgbClr val="CCC5BD"/>
                </a:solidFill>
              </a:rPr>
              <a:t> — Experienced, wants data depth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217920" y="4297680"/>
            <a:ext cx="2468880" cy="457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9" name="Text 15"/>
          <p:cNvSpPr/>
          <p:nvPr/>
        </p:nvSpPr>
        <p:spPr>
          <a:xfrm>
            <a:off x="6355080" y="4297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956C"/>
                </a:solidFill>
              </a:rPr>
              <a:t>Explorer</a:t>
            </a:r>
            <a:pPr indent="0" marL="0">
              <a:buNone/>
            </a:pPr>
            <a:r>
              <a:rPr lang="en-US" sz="1000" dirty="0">
                <a:solidFill>
                  <a:srgbClr val="CCC5BD"/>
                </a:solidFill>
              </a:rPr>
              <a:t> — Discovery-driven, wants variety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56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4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it fits in our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1097280" cy="20116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544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21031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20040" y="23774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20040" y="28803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intel</a:t>
            </a:r>
            <a:endParaRPr lang="en-US" sz="9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888" y="2148840"/>
            <a:ext cx="137160" cy="1371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508760" y="1371600"/>
            <a:ext cx="1097280" cy="2011680"/>
          </a:xfrm>
          <a:prstGeom prst="rect">
            <a:avLst/>
          </a:prstGeom>
          <a:solidFill>
            <a:srgbClr val="1F1A14"/>
          </a:solidFill>
          <a:ln w="19050">
            <a:solidFill>
              <a:srgbClr val="C895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55448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08760" y="21031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1554480" y="23774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Researcher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1554480" y="28803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review</a:t>
            </a:r>
            <a:endParaRPr lang="en-US" sz="9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328" y="2148840"/>
            <a:ext cx="137160" cy="13716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743200" y="1371600"/>
            <a:ext cx="1097280" cy="20116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3240" y="1554480"/>
            <a:ext cx="457200" cy="4572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2743200" y="21031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2788920" y="23774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2788920" y="28803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9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8768" y="2148840"/>
            <a:ext cx="137160" cy="13716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3977640" y="1371600"/>
            <a:ext cx="1097280" cy="20116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680" y="1554480"/>
            <a:ext cx="457200" cy="45720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3977640" y="21031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16"/>
          <p:cNvSpPr/>
          <p:nvPr/>
        </p:nvSpPr>
        <p:spPr>
          <a:xfrm>
            <a:off x="4023360" y="23774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Copywriter</a:t>
            </a:r>
            <a:endParaRPr lang="en-US" sz="1100" dirty="0"/>
          </a:p>
        </p:txBody>
      </p:sp>
      <p:sp>
        <p:nvSpPr>
          <p:cNvPr id="26" name="Text 17"/>
          <p:cNvSpPr/>
          <p:nvPr/>
        </p:nvSpPr>
        <p:spPr>
          <a:xfrm>
            <a:off x="4023360" y="28803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&amp; text</a:t>
            </a:r>
            <a:endParaRPr lang="en-US" sz="9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93208" y="2148840"/>
            <a:ext cx="137160" cy="137160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5212080" y="1371600"/>
            <a:ext cx="1097280" cy="20116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32120" y="1554480"/>
            <a:ext cx="457200" cy="45720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5212080" y="21031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0"/>
          <p:cNvSpPr/>
          <p:nvPr/>
        </p:nvSpPr>
        <p:spPr>
          <a:xfrm>
            <a:off x="5257800" y="23774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00" dirty="0"/>
          </a:p>
        </p:txBody>
      </p:sp>
      <p:sp>
        <p:nvSpPr>
          <p:cNvPr id="32" name="Text 21"/>
          <p:cNvSpPr/>
          <p:nvPr/>
        </p:nvSpPr>
        <p:spPr>
          <a:xfrm>
            <a:off x="5257800" y="28803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900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7648" y="2148840"/>
            <a:ext cx="137160" cy="137160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6446520" y="1371600"/>
            <a:ext cx="1097280" cy="2011680"/>
          </a:xfrm>
          <a:prstGeom prst="rect">
            <a:avLst/>
          </a:prstGeom>
          <a:solidFill>
            <a:srgbClr val="1F1A14"/>
          </a:solidFill>
          <a:ln w="19050">
            <a:solidFill>
              <a:srgbClr val="C8956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66560" y="1554480"/>
            <a:ext cx="457200" cy="457200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6446520" y="21031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7" name="Text 24"/>
          <p:cNvSpPr/>
          <p:nvPr/>
        </p:nvSpPr>
        <p:spPr>
          <a:xfrm>
            <a:off x="6492240" y="23774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Researcher</a:t>
            </a:r>
            <a:endParaRPr lang="en-US" sz="1100" dirty="0"/>
          </a:p>
        </p:txBody>
      </p:sp>
      <p:sp>
        <p:nvSpPr>
          <p:cNvPr id="38" name="Text 25"/>
          <p:cNvSpPr/>
          <p:nvPr/>
        </p:nvSpPr>
        <p:spPr>
          <a:xfrm>
            <a:off x="6492240" y="28803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audit</a:t>
            </a:r>
            <a:endParaRPr lang="en-US" sz="900" dirty="0"/>
          </a:p>
        </p:txBody>
      </p:sp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62088" y="2148840"/>
            <a:ext cx="137160" cy="137160"/>
          </a:xfrm>
          <a:prstGeom prst="rect">
            <a:avLst/>
          </a:prstGeom>
        </p:spPr>
      </p:pic>
      <p:sp>
        <p:nvSpPr>
          <p:cNvPr id="40" name="Shape 26"/>
          <p:cNvSpPr/>
          <p:nvPr/>
        </p:nvSpPr>
        <p:spPr>
          <a:xfrm>
            <a:off x="7680960" y="1371600"/>
            <a:ext cx="1097280" cy="20116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4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01000" y="1554480"/>
            <a:ext cx="457200" cy="457200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7680960" y="21031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3" name="Text 28"/>
          <p:cNvSpPr/>
          <p:nvPr/>
        </p:nvSpPr>
        <p:spPr>
          <a:xfrm>
            <a:off x="7726680" y="23774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Reviewer</a:t>
            </a:r>
            <a:endParaRPr lang="en-US" sz="1100" dirty="0"/>
          </a:p>
        </p:txBody>
      </p:sp>
      <p:sp>
        <p:nvSpPr>
          <p:cNvPr id="44" name="Text 29"/>
          <p:cNvSpPr/>
          <p:nvPr/>
        </p:nvSpPr>
        <p:spPr>
          <a:xfrm>
            <a:off x="7726680" y="28803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check</a:t>
            </a:r>
            <a:endParaRPr lang="en-US" sz="900" dirty="0"/>
          </a:p>
        </p:txBody>
      </p:sp>
      <p:sp>
        <p:nvSpPr>
          <p:cNvPr id="45" name="Shape 30"/>
          <p:cNvSpPr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4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7280" y="4023360"/>
            <a:ext cx="365760" cy="365760"/>
          </a:xfrm>
          <a:prstGeom prst="rect">
            <a:avLst/>
          </a:prstGeom>
        </p:spPr>
      </p:pic>
      <p:sp>
        <p:nvSpPr>
          <p:cNvPr id="47" name="Text 31"/>
          <p:cNvSpPr/>
          <p:nvPr/>
        </p:nvSpPr>
        <p:spPr>
          <a:xfrm>
            <a:off x="1645920" y="39319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UX researcher appears twice </a:t>
            </a:r>
            <a:pPr indent="0" marL="0">
              <a:buNone/>
            </a:pPr>
            <a:r>
              <a:rPr lang="en-US" sz="1200" dirty="0">
                <a:solidFill>
                  <a:srgbClr val="CCC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once to catch flow problems before we build, and again to catch usability issues after. Findings get auto-routed to the right skill (designer, copywriter, QA reviewer) for fixes.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56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4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findings from our research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usability sessions + 3 interviews + 47 survey responses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7680960" cy="621792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435608"/>
            <a:ext cx="822960" cy="3200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3560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920240" y="13533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Cupping scores lack context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20240" y="160934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 participants couldn't interpret scores. "Is 8.42 good?"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0" y="14356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8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Designer + Copywriter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057400"/>
            <a:ext cx="7680960" cy="621792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2212848"/>
            <a:ext cx="822960" cy="3200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21284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920240" y="21305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bean comparison feature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20240" y="238658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task completion. Users tried opening multiple browser tabs.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0" y="22128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8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Designer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2834640"/>
            <a:ext cx="7680960" cy="621792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" y="2990088"/>
            <a:ext cx="822960" cy="3200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299008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920240" y="29077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jargon unexplained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920240" y="316382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"MASL", "Washed", "Clean Cup" — opaque to 4/5 participants.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2990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8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Copywriter + Researcher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3611880"/>
            <a:ext cx="7680960" cy="621792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4400" y="3767328"/>
            <a:ext cx="822960" cy="3200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376732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8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920240" y="36850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results feel disconnected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920240" y="394106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 exists in code but isn't communicated to users.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0" y="3767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8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Designer + Copywriter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" y="4389120"/>
            <a:ext cx="7680960" cy="621792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14400" y="4544568"/>
            <a:ext cx="822960" cy="3200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454456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8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920240" y="44622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Brew guide not linked to beans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920240" y="471830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4/5 participants asked for this connection. Our #1 feature request.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0" y="45445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8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Designer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56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4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use it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talk naturally in Cowork — the skill triggers automatically based on what you ask.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7680960" cy="713232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61848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5361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8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"Check the UX on the quiz flow"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645920" y="1828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 full heuristic audit with tagged findings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" y="2377440"/>
            <a:ext cx="7680960" cy="713232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53288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45920" y="24505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8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this page confusing for beginners?"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645920" y="2743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through the Curious Newcomer persona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31520" y="3291840"/>
            <a:ext cx="7680960" cy="713232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447288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45920" y="33649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8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"Synthesize our user research"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645920" y="3657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all transcripts + spreadsheet data and surfaces patterns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731520" y="4206240"/>
            <a:ext cx="7680960" cy="713232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361688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45920" y="42793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8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want to add a comparison feature — review the flow"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1645920" y="45720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Pre-build flow assessment with green/red flags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956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4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7772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371600"/>
            <a:ext cx="411480" cy="411480"/>
          </a:xfrm>
          <a:prstGeom prst="ellipse">
            <a:avLst/>
          </a:prstGeom>
          <a:solidFill>
            <a:srgbClr val="C8956C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45920" y="1280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score context to bean detail pages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45920" y="1600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+ tooltips so users understand what 8.42 means. Fixes the #1 comprehension issue.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75120" y="1417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8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Designer + Copywriter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194560"/>
            <a:ext cx="7680960" cy="7772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05840" y="2377440"/>
            <a:ext cx="411480" cy="411480"/>
          </a:xfrm>
          <a:prstGeom prst="ellipse">
            <a:avLst/>
          </a:prstGeom>
          <a:solidFill>
            <a:srgbClr val="C8956C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45920" y="2286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bean comparison feature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45920" y="2606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view with overlaid radar charts. 0% completion rate demands action.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75120" y="24231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8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Designer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200400"/>
            <a:ext cx="7680960" cy="7772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05840" y="3383280"/>
            <a:ext cx="411480" cy="411480"/>
          </a:xfrm>
          <a:prstGeom prst="ellipse">
            <a:avLst/>
          </a:prstGeom>
          <a:solidFill>
            <a:srgbClr val="C8956C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45920" y="3291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brew guide to bean catalog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45920" y="3611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bean is great for pour-over" — link both directions. 4/5 participants asked for it.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75120" y="3429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8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Designer + Researcher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4206240"/>
            <a:ext cx="7680960" cy="77724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05840" y="4389120"/>
            <a:ext cx="411480" cy="411480"/>
          </a:xfrm>
          <a:prstGeom prst="ellipse">
            <a:avLst/>
          </a:prstGeom>
          <a:solidFill>
            <a:srgbClr val="C8956C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4389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645920" y="4297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another round of usability tests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645920" y="4617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implementing fixes, re-test with 5 new participants to measure improvement.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75120" y="4434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895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UX Researcher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UX Researcher Skill — How It Works</dc:title>
  <dc:subject>PptxGenJS Presentation</dc:subject>
  <dc:creator>Emily Neuhoff</dc:creator>
  <cp:lastModifiedBy>Emily Neuhoff</cp:lastModifiedBy>
  <cp:revision>1</cp:revision>
  <dcterms:created xsi:type="dcterms:W3CDTF">2026-04-22T04:01:56Z</dcterms:created>
  <dcterms:modified xsi:type="dcterms:W3CDTF">2026-04-22T04:01:56Z</dcterms:modified>
</cp:coreProperties>
</file>